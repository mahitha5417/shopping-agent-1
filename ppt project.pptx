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62" r:id="rId9"/>
    <p:sldId id="264" r:id="rId10"/>
    <p:sldId id="278" r:id="rId11"/>
    <p:sldId id="277" r:id="rId12"/>
    <p:sldId id="286" r:id="rId13"/>
    <p:sldId id="28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E36C99-B7CB-4DC4-9BC2-4F5623D1BDCC}" v="1" dt="2026-05-10T08:21:10.190"/>
    <p1510:client id="{AE611056-00F3-4CAC-BDCE-03329BAC9823}" v="4" dt="2026-05-10T09:23:10.984"/>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kha S" userId="132f380d552e434d" providerId="LiveId" clId="{47554D70-B89C-45C2-A68D-230C4731E6E1}"/>
    <pc:docChg chg="custSel modSld">
      <pc:chgData name="Rekha S" userId="132f380d552e434d" providerId="LiveId" clId="{47554D70-B89C-45C2-A68D-230C4731E6E1}" dt="2026-05-10T09:43:42.818" v="99" actId="14100"/>
      <pc:docMkLst>
        <pc:docMk/>
      </pc:docMkLst>
      <pc:sldChg chg="addSp delSp modSp mod">
        <pc:chgData name="Rekha S" userId="132f380d552e434d" providerId="LiveId" clId="{47554D70-B89C-45C2-A68D-230C4731E6E1}" dt="2026-05-10T09:43:42.818" v="99" actId="14100"/>
        <pc:sldMkLst>
          <pc:docMk/>
          <pc:sldMk cId="0" sldId="257"/>
        </pc:sldMkLst>
        <pc:graphicFrameChg chg="mod modGraphic">
          <ac:chgData name="Rekha S" userId="132f380d552e434d" providerId="LiveId" clId="{47554D70-B89C-45C2-A68D-230C4731E6E1}" dt="2026-05-10T09:23:10.984" v="79"/>
          <ac:graphicFrameMkLst>
            <pc:docMk/>
            <pc:sldMk cId="0" sldId="257"/>
            <ac:graphicFrameMk id="96" creationId="{00000000-0000-0000-0000-000000000000}"/>
          </ac:graphicFrameMkLst>
        </pc:graphicFrameChg>
        <pc:picChg chg="add del mod">
          <ac:chgData name="Rekha S" userId="132f380d552e434d" providerId="LiveId" clId="{47554D70-B89C-45C2-A68D-230C4731E6E1}" dt="2026-05-10T09:23:51.351" v="89" actId="478"/>
          <ac:picMkLst>
            <pc:docMk/>
            <pc:sldMk cId="0" sldId="257"/>
            <ac:picMk id="3" creationId="{AF8B74B4-C2B4-FBEF-BCB1-2E7D7D941F8B}"/>
          </ac:picMkLst>
        </pc:picChg>
        <pc:picChg chg="add mod">
          <ac:chgData name="Rekha S" userId="132f380d552e434d" providerId="LiveId" clId="{47554D70-B89C-45C2-A68D-230C4731E6E1}" dt="2026-05-10T09:43:42.818" v="99" actId="14100"/>
          <ac:picMkLst>
            <pc:docMk/>
            <pc:sldMk cId="0" sldId="257"/>
            <ac:picMk id="6" creationId="{E90D7652-ADB1-BBD2-5FA8-F9402BB3177E}"/>
          </ac:picMkLst>
        </pc:picChg>
      </pc:sldChg>
      <pc:sldChg chg="addSp delSp modSp mod">
        <pc:chgData name="Rekha S" userId="132f380d552e434d" providerId="LiveId" clId="{47554D70-B89C-45C2-A68D-230C4731E6E1}" dt="2026-05-10T09:19:49.663" v="18" actId="14100"/>
        <pc:sldMkLst>
          <pc:docMk/>
          <pc:sldMk cId="0" sldId="262"/>
        </pc:sldMkLst>
        <pc:picChg chg="add mod">
          <ac:chgData name="Rekha S" userId="132f380d552e434d" providerId="LiveId" clId="{47554D70-B89C-45C2-A68D-230C4731E6E1}" dt="2026-05-10T09:19:49.663" v="18" actId="14100"/>
          <ac:picMkLst>
            <pc:docMk/>
            <pc:sldMk cId="0" sldId="262"/>
            <ac:picMk id="4" creationId="{C6CFDB11-DA37-A091-D1F9-B8B200CA9FDA}"/>
          </ac:picMkLst>
        </pc:picChg>
        <pc:picChg chg="del">
          <ac:chgData name="Rekha S" userId="132f380d552e434d" providerId="LiveId" clId="{47554D70-B89C-45C2-A68D-230C4731E6E1}" dt="2026-05-10T09:19:31.244" v="12" actId="478"/>
          <ac:picMkLst>
            <pc:docMk/>
            <pc:sldMk cId="0" sldId="262"/>
            <ac:picMk id="178" creationId="{00000000-0000-0000-0000-000000000000}"/>
          </ac:picMkLst>
        </pc:picChg>
      </pc:sldChg>
      <pc:sldChg chg="addSp delSp modSp mod">
        <pc:chgData name="Rekha S" userId="132f380d552e434d" providerId="LiveId" clId="{47554D70-B89C-45C2-A68D-230C4731E6E1}" dt="2026-05-10T08:47:56.346" v="11" actId="14100"/>
        <pc:sldMkLst>
          <pc:docMk/>
          <pc:sldMk cId="2115484872" sldId="277"/>
        </pc:sldMkLst>
        <pc:picChg chg="del">
          <ac:chgData name="Rekha S" userId="132f380d552e434d" providerId="LiveId" clId="{47554D70-B89C-45C2-A68D-230C4731E6E1}" dt="2026-05-10T08:47:40.997" v="4" actId="478"/>
          <ac:picMkLst>
            <pc:docMk/>
            <pc:sldMk cId="2115484872" sldId="277"/>
            <ac:picMk id="2" creationId="{E9DB3200-E2EC-A058-B02D-E1510060484E}"/>
          </ac:picMkLst>
        </pc:picChg>
        <pc:picChg chg="del">
          <ac:chgData name="Rekha S" userId="132f380d552e434d" providerId="LiveId" clId="{47554D70-B89C-45C2-A68D-230C4731E6E1}" dt="2026-05-10T08:47:43.202" v="5" actId="478"/>
          <ac:picMkLst>
            <pc:docMk/>
            <pc:sldMk cId="2115484872" sldId="277"/>
            <ac:picMk id="3" creationId="{03614573-D426-9337-9C0E-5207B9123920}"/>
          </ac:picMkLst>
        </pc:picChg>
        <pc:picChg chg="add mod">
          <ac:chgData name="Rekha S" userId="132f380d552e434d" providerId="LiveId" clId="{47554D70-B89C-45C2-A68D-230C4731E6E1}" dt="2026-05-10T08:47:56.346" v="11" actId="14100"/>
          <ac:picMkLst>
            <pc:docMk/>
            <pc:sldMk cId="2115484872" sldId="277"/>
            <ac:picMk id="6" creationId="{C8F5D8D7-2210-65D0-BF7A-73FA54FD6BA4}"/>
          </ac:picMkLst>
        </pc:picChg>
      </pc:sldChg>
      <pc:sldChg chg="addSp delSp modSp mod">
        <pc:chgData name="Rekha S" userId="132f380d552e434d" providerId="LiveId" clId="{47554D70-B89C-45C2-A68D-230C4731E6E1}" dt="2026-05-10T08:46:14.365" v="3" actId="14100"/>
        <pc:sldMkLst>
          <pc:docMk/>
          <pc:sldMk cId="2772501912" sldId="279"/>
        </pc:sldMkLst>
        <pc:picChg chg="del">
          <ac:chgData name="Rekha S" userId="132f380d552e434d" providerId="LiveId" clId="{47554D70-B89C-45C2-A68D-230C4731E6E1}" dt="2026-05-10T08:46:07.372" v="0" actId="478"/>
          <ac:picMkLst>
            <pc:docMk/>
            <pc:sldMk cId="2772501912" sldId="279"/>
            <ac:picMk id="3" creationId="{11BF3590-52D3-DC9D-2C84-E66D9597D77D}"/>
          </ac:picMkLst>
        </pc:picChg>
        <pc:picChg chg="add mod">
          <ac:chgData name="Rekha S" userId="132f380d552e434d" providerId="LiveId" clId="{47554D70-B89C-45C2-A68D-230C4731E6E1}" dt="2026-05-10T08:46:14.365" v="3" actId="14100"/>
          <ac:picMkLst>
            <pc:docMk/>
            <pc:sldMk cId="2772501912" sldId="279"/>
            <ac:picMk id="5" creationId="{45AD1A37-C185-A172-1790-BFE63F089580}"/>
          </ac:picMkLst>
        </pc:picChg>
      </pc:sldChg>
      <pc:sldChg chg="modSp mod">
        <pc:chgData name="Rekha S" userId="132f380d552e434d" providerId="LiveId" clId="{47554D70-B89C-45C2-A68D-230C4731E6E1}" dt="2026-05-10T09:21:36.582" v="23" actId="20577"/>
        <pc:sldMkLst>
          <pc:docMk/>
          <pc:sldMk cId="2605851928" sldId="287"/>
        </pc:sldMkLst>
        <pc:spChg chg="mod">
          <ac:chgData name="Rekha S" userId="132f380d552e434d" providerId="LiveId" clId="{47554D70-B89C-45C2-A68D-230C4731E6E1}" dt="2026-05-10T09:21:36.582" v="23" actId="20577"/>
          <ac:spMkLst>
            <pc:docMk/>
            <pc:sldMk cId="2605851928" sldId="287"/>
            <ac:spMk id="279" creationId="{3711AF54-94A6-B837-31EF-9A8C4ECB9AF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mahitha1710@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mahitha5417/Shopping-Agent-1"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80468891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Mahitha 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hlinkClick r:id="rId3"/>
                        </a:rPr>
                        <a:t>mahitha1710@gmail.com</a:t>
                      </a:r>
                      <a:r>
                        <a:rPr lang="en-IN" dirty="0"/>
                        <a:t> </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7338007828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Artificial Intelligence/E-Commerce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b="1" dirty="0"/>
              <a:t>Intelligent Shopping Agent</a:t>
            </a:r>
            <a:endParaRPr lang="en-IN" sz="2400" b="1" dirty="0">
              <a:highlight>
                <a:srgbClr val="FFFF00"/>
              </a:highlight>
            </a:endParaRPr>
          </a:p>
        </p:txBody>
      </p:sp>
      <p:pic>
        <p:nvPicPr>
          <p:cNvPr id="6" name="Picture 5">
            <a:extLst>
              <a:ext uri="{FF2B5EF4-FFF2-40B4-BE49-F238E27FC236}">
                <a16:creationId xmlns:a16="http://schemas.microsoft.com/office/drawing/2014/main" id="{E90D7652-ADB1-BBD2-5FA8-F9402BB3177E}"/>
              </a:ext>
            </a:extLst>
          </p:cNvPr>
          <p:cNvPicPr>
            <a:picLocks noChangeAspect="1"/>
          </p:cNvPicPr>
          <p:nvPr/>
        </p:nvPicPr>
        <p:blipFill>
          <a:blip r:embed="rId4"/>
          <a:stretch>
            <a:fillRect/>
          </a:stretch>
        </p:blipFill>
        <p:spPr>
          <a:xfrm>
            <a:off x="3896066" y="3683879"/>
            <a:ext cx="1035163" cy="9407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185761"/>
          </a:xfrm>
          <a:prstGeom prst="rect">
            <a:avLst/>
          </a:prstGeom>
          <a:noFill/>
        </p:spPr>
        <p:txBody>
          <a:bodyPr wrap="square" rtlCol="0">
            <a:spAutoFit/>
          </a:bodyPr>
          <a:lstStyle/>
          <a:p>
            <a:pPr fontAlgn="base"/>
            <a:r>
              <a:rPr lang="en-US" b="1" dirty="0"/>
              <a:t>Problem Statement : </a:t>
            </a:r>
            <a:r>
              <a:rPr lang="en-IN" b="1" dirty="0"/>
              <a:t>Intelligent Shopping Agent</a:t>
            </a:r>
            <a:endParaRPr lang="en-US" b="1" dirty="0"/>
          </a:p>
          <a:p>
            <a:pPr fontAlgn="base"/>
            <a:endParaRPr lang="en-US" b="1" dirty="0"/>
          </a:p>
          <a:p>
            <a:pPr fontAlgn="base"/>
            <a:r>
              <a:rPr lang="en-US" b="1" dirty="0"/>
              <a:t>The Challenge</a:t>
            </a:r>
            <a:r>
              <a:rPr lang="en-US" dirty="0"/>
              <a:t> </a:t>
            </a:r>
          </a:p>
          <a:p>
            <a:pPr fontAlgn="base"/>
            <a:r>
              <a:rPr lang="en-US" dirty="0"/>
              <a:t>Shoppers today face an overload of product options, scattered reviews, and dynamic pricing across e-commerce platforms. Finding the right product that balances price, quality, and personal preferences is time-consuming and frustrating. Traditional recommendation systems often fail to capture real-time trends, personalized needs, or contextual factors like urgency, budget, or sustainability. The challenge is not just to recommend products but to act as a smart shopping companion that helps buyers make informed and confident decisions. </a:t>
            </a:r>
          </a:p>
          <a:p>
            <a:pPr fontAlgn="base"/>
            <a:r>
              <a:rPr lang="en-US" b="1" dirty="0"/>
              <a:t>The Objective</a:t>
            </a:r>
            <a:r>
              <a:rPr lang="en-US" dirty="0"/>
              <a:t> </a:t>
            </a:r>
          </a:p>
          <a:p>
            <a:pPr fontAlgn="base"/>
            <a:r>
              <a:rPr lang="en-US" dirty="0"/>
              <a:t>Build an agentic </a:t>
            </a:r>
            <a:r>
              <a:rPr lang="en-US" b="1" dirty="0"/>
              <a:t>AI shopping assistant </a:t>
            </a:r>
            <a:r>
              <a:rPr lang="en-US" dirty="0"/>
              <a:t>that provides intelligent, personalized, and real-time support. The solution should: </a:t>
            </a:r>
          </a:p>
          <a:p>
            <a:pPr marL="285750" indent="-285750" fontAlgn="base">
              <a:buFont typeface="Arial" panose="020B0604020202020204" pitchFamily="34" charset="0"/>
              <a:buChar char="•"/>
            </a:pPr>
            <a:r>
              <a:rPr lang="en-US" b="1" dirty="0"/>
              <a:t>Fuse Multisource Data</a:t>
            </a:r>
            <a:r>
              <a:rPr lang="en-US" dirty="0"/>
              <a:t>: Aggregate product details, reviews, ratings, and price comparisons across multiple e-commerce sites into unified insights. </a:t>
            </a:r>
          </a:p>
          <a:p>
            <a:pPr marL="285750" indent="-285750" fontAlgn="base">
              <a:buFont typeface="Arial" panose="020B0604020202020204" pitchFamily="34" charset="0"/>
              <a:buChar char="•"/>
            </a:pPr>
            <a:r>
              <a:rPr lang="en-US" b="1" dirty="0"/>
              <a:t>Enable Multimodal Search</a:t>
            </a:r>
            <a:r>
              <a:rPr lang="en-US" dirty="0"/>
              <a:t>: Allow users to input voice queries, images (e.g., a photo of a product), or text descriptions to find best-matching products.</a:t>
            </a:r>
          </a:p>
          <a:p>
            <a:pPr marL="285750" indent="-285750" fontAlgn="base">
              <a:buFont typeface="Arial" panose="020B0604020202020204" pitchFamily="34" charset="0"/>
              <a:buChar char="•"/>
            </a:pPr>
            <a:r>
              <a:rPr lang="en-US" b="1" dirty="0"/>
              <a:t>Create a Predictive &amp; Agentic Layer</a:t>
            </a:r>
            <a:r>
              <a:rPr lang="en-US" dirty="0"/>
              <a:t>: Suggest purchase timing (e.g., discounts, seasonal offers), recommend alternatives, and alert users about price drops or fake reviews. </a:t>
            </a:r>
          </a:p>
          <a:p>
            <a:pPr marL="285750" indent="-285750" fontAlgn="base">
              <a:buFont typeface="Arial" panose="020B0604020202020204" pitchFamily="34" charset="0"/>
              <a:buChar char="•"/>
            </a:pPr>
            <a:r>
              <a:rPr lang="en-US" b="1" dirty="0"/>
              <a:t>Visualize Smart Shopping Pulse</a:t>
            </a:r>
            <a:r>
              <a:rPr lang="en-US" dirty="0"/>
              <a:t>: Provide a dashboard summarizing comparisons, sustainability scores, trending products, and personalized shopping lists.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Intelligent Shopping Agent</a:t>
            </a:r>
            <a:endParaRPr lang="en-US" dirty="0"/>
          </a:p>
          <a:p>
            <a:r>
              <a:rPr lang="en-US" dirty="0"/>
              <a:t>The proposed solution is a multi-agent AI-powered Intelligent Shopping Assistant built using </a:t>
            </a:r>
            <a:r>
              <a:rPr lang="en-US" dirty="0" err="1"/>
              <a:t>LangFlow</a:t>
            </a:r>
            <a:r>
              <a:rPr lang="en-US" dirty="0"/>
              <a:t>, IBM watsonx.ai, and Granite Models to provide personalized, real-time shopping guidance. The system addresses challenges such as product overload, scattered reviews, dynamic pricing, and difficulty in finding the best products across multiple e-commerce platforms.</a:t>
            </a:r>
          </a:p>
          <a:p>
            <a:r>
              <a:rPr lang="en-US" dirty="0"/>
              <a:t>At its core, the solution uses a Retrieval-Augmented Generation (RAG) pipeline to collect and process product details, ratings, customer reviews, discounts, and price comparisons from trusted online shopping platforms. This information is embedded and stored in a vector database, enabling the system to retrieve and summarize product insights intelligently using Granite models.</a:t>
            </a:r>
          </a:p>
          <a:p>
            <a:r>
              <a:rPr lang="en-US" dirty="0"/>
              <a:t>The system consists of four key agents:</a:t>
            </a:r>
          </a:p>
          <a:p>
            <a:r>
              <a:rPr lang="en-US" b="1" dirty="0"/>
              <a:t>Product Knowledge Agent</a:t>
            </a:r>
            <a:r>
              <a:rPr lang="en-US" dirty="0"/>
              <a:t> retrieves and summarizes product information, specifications, reviews, and ratings using RAG.</a:t>
            </a:r>
          </a:p>
          <a:p>
            <a:r>
              <a:rPr lang="en-US" b="1" dirty="0"/>
              <a:t>Recommendation Agent </a:t>
            </a:r>
            <a:r>
              <a:rPr lang="en-US" dirty="0"/>
              <a:t>generates personalized product suggestions based on user preferences such as budget, brand interests, shopping behavior, and ratings.</a:t>
            </a:r>
          </a:p>
          <a:p>
            <a:r>
              <a:rPr lang="en-US" b="1" dirty="0"/>
              <a:t>Smart Price &amp; Trend Agent </a:t>
            </a:r>
            <a:r>
              <a:rPr lang="en-US" dirty="0"/>
              <a:t>predicts price drops, tracks seasonal offers, detects fake reviews, and recommends better alternatives for smarter purchasing decisions.</a:t>
            </a:r>
          </a:p>
          <a:p>
            <a:r>
              <a:rPr lang="en-US" b="1" dirty="0"/>
              <a:t>Multimodal Search Agent </a:t>
            </a:r>
            <a:r>
              <a:rPr lang="en-US" dirty="0"/>
              <a:t>allows users to search products through text, voice, or image inputs and finds the best-matching products instantly.</a:t>
            </a:r>
          </a:p>
          <a:p>
            <a:endParaRPr lang="en-US" dirty="0"/>
          </a:p>
          <a:p>
            <a:r>
              <a:rPr lang="en-US" b="1" dirty="0" err="1"/>
              <a:t>LangFlow</a:t>
            </a:r>
            <a:r>
              <a:rPr lang="en-US" dirty="0"/>
              <a:t> is used to orchestrate agent workflows, while </a:t>
            </a:r>
            <a:r>
              <a:rPr lang="en-US" b="1" dirty="0"/>
              <a:t>watsonx.ai </a:t>
            </a:r>
            <a:r>
              <a:rPr lang="en-US" dirty="0"/>
              <a:t>ensures scalable AI model deployment, embeddings, and governance. </a:t>
            </a:r>
            <a:r>
              <a:rPr lang="en-US" b="1" dirty="0"/>
              <a:t>Granite models </a:t>
            </a:r>
            <a:r>
              <a:rPr lang="en-US" dirty="0"/>
              <a:t>power reasoning, summarization, personalization, and recommendation generation.</a:t>
            </a:r>
          </a:p>
          <a:p>
            <a:endParaRPr lang="en-US" dirty="0"/>
          </a:p>
          <a:p>
            <a:r>
              <a:rPr lang="en-US" dirty="0"/>
              <a:t>Overall, this solution delivers an </a:t>
            </a:r>
            <a:r>
              <a:rPr lang="en-US" b="1" dirty="0"/>
              <a:t>end-to-end intelligent shopping assistant</a:t>
            </a:r>
            <a:r>
              <a:rPr lang="en-US" dirty="0"/>
              <a:t> that acts as a smart shopping companion, helping users save time, compare products efficiently, and make confident purchasing decisions through personalized insights and real-time recommendations.</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401205"/>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highlight>
                <a:srgbClr val="FFFF00"/>
              </a:highlight>
            </a:endParaRPr>
          </a:p>
          <a:p>
            <a:r>
              <a:rPr lang="en-US" b="1" dirty="0"/>
              <a:t>5) File Component - </a:t>
            </a:r>
            <a:r>
              <a:rPr lang="en-US" dirty="0"/>
              <a:t>Stores and retrieves product details, customer reviews, price comparison data, and user preferences for personalized shopping analysis and recommendations.</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45AD1A37-C185-A172-1790-BFE63F089580}"/>
              </a:ext>
            </a:extLst>
          </p:cNvPr>
          <p:cNvPicPr>
            <a:picLocks noChangeAspect="1"/>
          </p:cNvPicPr>
          <p:nvPr/>
        </p:nvPicPr>
        <p:blipFill>
          <a:blip r:embed="rId3"/>
          <a:stretch>
            <a:fillRect/>
          </a:stretch>
        </p:blipFill>
        <p:spPr>
          <a:xfrm>
            <a:off x="1262062" y="979714"/>
            <a:ext cx="9667875" cy="539727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C6CFDB11-DA37-A091-D1F9-B8B200CA9FDA}"/>
              </a:ext>
            </a:extLst>
          </p:cNvPr>
          <p:cNvPicPr>
            <a:picLocks noChangeAspect="1"/>
          </p:cNvPicPr>
          <p:nvPr/>
        </p:nvPicPr>
        <p:blipFill>
          <a:blip r:embed="rId3"/>
          <a:stretch>
            <a:fillRect/>
          </a:stretch>
        </p:blipFill>
        <p:spPr>
          <a:xfrm>
            <a:off x="718458" y="771747"/>
            <a:ext cx="10744200" cy="55963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1" y="1167493"/>
            <a:ext cx="10862637" cy="3108543"/>
          </a:xfrm>
          <a:prstGeom prst="rect">
            <a:avLst/>
          </a:prstGeom>
          <a:noFill/>
        </p:spPr>
        <p:txBody>
          <a:bodyPr wrap="square" rtlCol="0">
            <a:spAutoFit/>
          </a:bodyPr>
          <a:lstStyle/>
          <a:p>
            <a:r>
              <a:rPr lang="en-US" b="1" dirty="0"/>
              <a:t>Role of Agentic AI in Intelligent Shopping Agent</a:t>
            </a:r>
          </a:p>
          <a:p>
            <a:r>
              <a:rPr lang="en-US" b="1" dirty="0"/>
              <a:t>Agentic AI </a:t>
            </a:r>
            <a:r>
              <a:rPr lang="en-US" dirty="0"/>
              <a:t>enables the Intelligent Shopping Agent to function as an autonomous and intelligent shopping assistant rather than a basic recommendation system. Using </a:t>
            </a:r>
            <a:r>
              <a:rPr lang="en-US" b="1" dirty="0"/>
              <a:t>IBM watsonx.ai </a:t>
            </a:r>
            <a:r>
              <a:rPr lang="en-US" dirty="0"/>
              <a:t>and </a:t>
            </a:r>
            <a:r>
              <a:rPr lang="en-US" b="1" dirty="0"/>
              <a:t>IBM Granite models, </a:t>
            </a:r>
            <a:r>
              <a:rPr lang="en-US" dirty="0"/>
              <a:t>it coordinates multiple specialized agents to provide personalized and real-time shopping guidance.</a:t>
            </a:r>
          </a:p>
          <a:p>
            <a:r>
              <a:rPr lang="en-US" dirty="0"/>
              <a:t>Each agent performs a specific role such as retrieving product information, comparing prices, analyzing customer reviews, predicting price drops, and generating personalized recommendations. </a:t>
            </a:r>
            <a:r>
              <a:rPr lang="en-US" b="1" dirty="0"/>
              <a:t>This multi-agent approach </a:t>
            </a:r>
            <a:r>
              <a:rPr lang="en-US" dirty="0"/>
              <a:t>ensures efficient task execution and accurate shopping insights.</a:t>
            </a:r>
          </a:p>
          <a:p>
            <a:r>
              <a:rPr lang="en-US" dirty="0"/>
              <a:t>Agentic AI also </a:t>
            </a:r>
            <a:r>
              <a:rPr lang="en-US" b="1" dirty="0"/>
              <a:t>provides context awareness</a:t>
            </a:r>
            <a:r>
              <a:rPr lang="en-US" dirty="0"/>
              <a:t>, understanding user preferences such as budget, product interests, ratings, and shopping behavior to generate tailored recommendations. It supports </a:t>
            </a:r>
            <a:r>
              <a:rPr lang="en-US" b="1" dirty="0"/>
              <a:t>real-time adaptation</a:t>
            </a:r>
            <a:r>
              <a:rPr lang="en-US" dirty="0"/>
              <a:t>, continuously updating suggestions based on current offers, trending products, and user interactions.</a:t>
            </a:r>
          </a:p>
          <a:p>
            <a:r>
              <a:rPr lang="en-US" dirty="0"/>
              <a:t>Additionally, agents communicate with each other to improve decision-making, detect fake reviews, recommend better alternatives, and provide smarter purchasing strategies.</a:t>
            </a:r>
          </a:p>
          <a:p>
            <a:r>
              <a:rPr lang="en-US" dirty="0"/>
              <a:t>Overall, Agentic AI makes the system proactive, personalized, and goal-driven, acting like a smart digital </a:t>
            </a:r>
            <a:r>
              <a:rPr lang="en-US" b="1" dirty="0"/>
              <a:t>shopping companion </a:t>
            </a:r>
            <a:r>
              <a:rPr lang="en-US" dirty="0"/>
              <a:t>that helps users make confident and informed buying decisions..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6" name="Picture 5">
            <a:extLst>
              <a:ext uri="{FF2B5EF4-FFF2-40B4-BE49-F238E27FC236}">
                <a16:creationId xmlns:a16="http://schemas.microsoft.com/office/drawing/2014/main" id="{C8F5D8D7-2210-65D0-BF7A-73FA54FD6BA4}"/>
              </a:ext>
            </a:extLst>
          </p:cNvPr>
          <p:cNvPicPr>
            <a:picLocks noChangeAspect="1"/>
          </p:cNvPicPr>
          <p:nvPr/>
        </p:nvPicPr>
        <p:blipFill>
          <a:blip r:embed="rId3"/>
          <a:stretch>
            <a:fillRect/>
          </a:stretch>
        </p:blipFill>
        <p:spPr>
          <a:xfrm>
            <a:off x="1055914" y="1696488"/>
            <a:ext cx="8893629" cy="3974969"/>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6063198"/>
          </a:xfrm>
          <a:prstGeom prst="rect">
            <a:avLst/>
          </a:prstGeom>
          <a:noFill/>
        </p:spPr>
        <p:txBody>
          <a:bodyPr wrap="square" rtlCol="0">
            <a:spAutoFit/>
          </a:bodyPr>
          <a:lstStyle/>
          <a:p>
            <a:r>
              <a:rPr lang="en-US" sz="1800" dirty="0"/>
              <a:t>The proposed </a:t>
            </a:r>
            <a:r>
              <a:rPr lang="en-US" sz="1800" b="1" dirty="0"/>
              <a:t>Intelligent Shopping Agent </a:t>
            </a:r>
            <a:r>
              <a:rPr lang="en-US" sz="1800" dirty="0"/>
              <a:t>stands out by </a:t>
            </a:r>
            <a:r>
              <a:rPr lang="en-US" sz="1800" b="1" dirty="0"/>
              <a:t>combining Agentic AI, RAG, multimodal search, and hyper-personalized recommendations</a:t>
            </a:r>
            <a:r>
              <a:rPr lang="en-US" sz="1800" dirty="0"/>
              <a:t> into a single smart shopping ecosystem.</a:t>
            </a:r>
          </a:p>
          <a:p>
            <a:endParaRPr lang="en-US" sz="1800" dirty="0"/>
          </a:p>
          <a:p>
            <a:r>
              <a:rPr lang="en-US" sz="1800" b="1" dirty="0"/>
              <a:t>Multi-Agent Intelligence </a:t>
            </a:r>
            <a:r>
              <a:rPr lang="en-US" sz="1800" dirty="0"/>
              <a:t>- Instead of a traditional chatbot, multiple specialized AI agents collaborate to analyze products, reviews, prices, and shopping trends for accurate decision-making.</a:t>
            </a:r>
          </a:p>
          <a:p>
            <a:r>
              <a:rPr lang="en-US" sz="1800" b="1" dirty="0"/>
              <a:t>RAG-Based Product Understanding </a:t>
            </a:r>
            <a:r>
              <a:rPr lang="en-US" sz="1800" dirty="0"/>
              <a:t>- Integrates real-time product retrieval with AI-generated insights, ensuring reliable recommendations from updated product data, ratings, and customer reviews.</a:t>
            </a:r>
          </a:p>
          <a:p>
            <a:r>
              <a:rPr lang="en-US" sz="1800" b="1" dirty="0"/>
              <a:t>Hyper-Personalization</a:t>
            </a:r>
            <a:r>
              <a:rPr lang="en-US" sz="1800" dirty="0"/>
              <a:t> - Tailors product suggestions based on user preferences, budget, shopping behavior, brand interests, and purchase history.</a:t>
            </a:r>
            <a:r>
              <a:rPr lang="en-IN" sz="1800" dirty="0"/>
              <a:t> </a:t>
            </a:r>
          </a:p>
          <a:p>
            <a:r>
              <a:rPr lang="en-US" sz="1800" b="1" dirty="0"/>
              <a:t>Real-Time Smart Shopping Assistance </a:t>
            </a:r>
            <a:r>
              <a:rPr lang="en-US" sz="1800" dirty="0"/>
              <a:t>- Continuously tracks discounts, seasonal offers, trending products, and price drops to help users buy products at the best time and price.</a:t>
            </a:r>
          </a:p>
          <a:p>
            <a:r>
              <a:rPr lang="en-US" sz="1800" b="1" dirty="0"/>
              <a:t>Multimodal Input Support </a:t>
            </a:r>
            <a:r>
              <a:rPr lang="en-US" sz="1800" dirty="0"/>
              <a:t>- Supports text, voice, and image-based product searches for a seamless and user-friendly shopping experience. </a:t>
            </a:r>
          </a:p>
          <a:p>
            <a:r>
              <a:rPr lang="en-US" sz="1800" b="1" dirty="0"/>
              <a:t>Fake Review Detection &amp; Better Alternatives </a:t>
            </a:r>
            <a:r>
              <a:rPr lang="en-US" sz="1800" dirty="0"/>
              <a:t>- Uses AI reasoning to identify suspicious reviews and recommend better-value alternative products.</a:t>
            </a:r>
          </a:p>
          <a:p>
            <a:r>
              <a:rPr lang="en-US" sz="1800" b="1" dirty="0"/>
              <a:t>Scalable &amp; Enterprise-Ready Architecture </a:t>
            </a:r>
            <a:r>
              <a:rPr lang="en-US" sz="1800" dirty="0"/>
              <a:t>- Built on IBM watsonx.ai with IBM Granite models and </a:t>
            </a:r>
            <a:r>
              <a:rPr lang="en-US" sz="1800" dirty="0" err="1"/>
              <a:t>LangFlow</a:t>
            </a:r>
            <a:r>
              <a:rPr lang="en-US" sz="1800" dirty="0"/>
              <a:t>, ensuring scalability, reliability, and AI governance.</a:t>
            </a:r>
          </a:p>
          <a:p>
            <a:endParaRPr lang="en-US" sz="1800" dirty="0"/>
          </a:p>
          <a:p>
            <a:r>
              <a:rPr lang="en-US" sz="1800" dirty="0"/>
              <a:t>This makes the solution a smart, adaptive, and proactive AI shopping companion, not just a basic product recommendation system.</a:t>
            </a:r>
          </a:p>
          <a:p>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hlinkClick r:id="rId3"/>
              </a:rPr>
              <a:t>https://github.com/mahitha5417/Shopping-Agent-1</a:t>
            </a:r>
            <a:r>
              <a:rPr lang="en-IN" sz="1850" dirty="0">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29343" y="1221715"/>
            <a:ext cx="11114313" cy="5353256"/>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00" b="1" dirty="0">
                <a:latin typeface="+mn-lt"/>
                <a:ea typeface="Times New Roman"/>
                <a:cs typeface="Times New Roman"/>
                <a:sym typeface="Times New Roman"/>
              </a:rPr>
              <a:t>1. AI-Powered Virtual Shopping Assistant </a:t>
            </a:r>
            <a:r>
              <a:rPr lang="en-US" sz="1800" dirty="0">
                <a:latin typeface="+mn-lt"/>
                <a:ea typeface="Times New Roman"/>
                <a:cs typeface="Times New Roman"/>
                <a:sym typeface="Times New Roman"/>
              </a:rPr>
              <a:t>– The system can be enhanced with a conversational voice-enabled shopping assistant that interacts naturally with users, understands preferences in real time, and provides personalized product suggestions through voice commands and multilingual support.</a:t>
            </a:r>
          </a:p>
          <a:p>
            <a:pPr lvl="0">
              <a:lnSpc>
                <a:spcPct val="162162"/>
              </a:lnSpc>
              <a:buClr>
                <a:srgbClr val="2B3541"/>
              </a:buClr>
              <a:buSzPts val="1850"/>
            </a:pPr>
            <a:r>
              <a:rPr lang="en-US" sz="1800" b="1" dirty="0">
                <a:latin typeface="+mn-lt"/>
                <a:ea typeface="Times New Roman"/>
                <a:cs typeface="Times New Roman"/>
                <a:sym typeface="Times New Roman"/>
              </a:rPr>
              <a:t>2. Integration with AR/VR Shopping Experience </a:t>
            </a:r>
            <a:r>
              <a:rPr lang="en-US" sz="1800" dirty="0">
                <a:latin typeface="+mn-lt"/>
                <a:ea typeface="Times New Roman"/>
                <a:cs typeface="Times New Roman"/>
                <a:sym typeface="Times New Roman"/>
              </a:rPr>
              <a:t>– Future versions can integrate Augmented Reality (AR) and Virtual Reality (VR) technologies to allow users to virtually try products such as clothes, accessories, furniture, or cosmetics before purchasing, improving online shopping confidence.</a:t>
            </a:r>
          </a:p>
          <a:p>
            <a:pPr lvl="0">
              <a:lnSpc>
                <a:spcPct val="162162"/>
              </a:lnSpc>
              <a:buClr>
                <a:srgbClr val="2B3541"/>
              </a:buClr>
              <a:buSzPts val="1850"/>
            </a:pPr>
            <a:r>
              <a:rPr lang="en-US" sz="1800" b="1" dirty="0">
                <a:latin typeface="+mn-lt"/>
                <a:ea typeface="Times New Roman"/>
                <a:cs typeface="Times New Roman"/>
                <a:sym typeface="Times New Roman"/>
              </a:rPr>
              <a:t>3. Real-Time Personalized Deal Prediction </a:t>
            </a:r>
            <a:r>
              <a:rPr lang="en-US" sz="1800" dirty="0">
                <a:latin typeface="+mn-lt"/>
                <a:ea typeface="Times New Roman"/>
                <a:cs typeface="Times New Roman"/>
                <a:sym typeface="Times New Roman"/>
              </a:rPr>
              <a:t>–  The platform can be upgraded with advanced predictive analytics to forecast future discounts, festive sales, and price drops based on historical shopping trends and market behavior</a:t>
            </a:r>
          </a:p>
          <a:p>
            <a:pPr lvl="0">
              <a:lnSpc>
                <a:spcPct val="162162"/>
              </a:lnSpc>
              <a:buClr>
                <a:srgbClr val="2B3541"/>
              </a:buClr>
              <a:buSzPts val="1850"/>
            </a:pPr>
            <a:r>
              <a:rPr lang="en-US" sz="1800" b="1" dirty="0">
                <a:latin typeface="+mn-lt"/>
                <a:ea typeface="Times New Roman"/>
                <a:cs typeface="Times New Roman"/>
                <a:sym typeface="Times New Roman"/>
              </a:rPr>
              <a:t>4. Smart Cross-Platform Shopping Integration </a:t>
            </a:r>
            <a:r>
              <a:rPr lang="en-US" sz="1800" dirty="0">
                <a:latin typeface="+mn-lt"/>
                <a:ea typeface="Times New Roman"/>
                <a:cs typeface="Times New Roman"/>
                <a:sym typeface="Times New Roman"/>
              </a:rPr>
              <a:t>– The solution can be connected with multiple e-commerce platforms to provide unified shopping comparisons, synchronized </a:t>
            </a:r>
            <a:r>
              <a:rPr lang="en-US" sz="1800" dirty="0" err="1">
                <a:latin typeface="+mn-lt"/>
                <a:ea typeface="Times New Roman"/>
                <a:cs typeface="Times New Roman"/>
                <a:sym typeface="Times New Roman"/>
              </a:rPr>
              <a:t>wishlists</a:t>
            </a:r>
            <a:r>
              <a:rPr lang="en-US" sz="1800" dirty="0">
                <a:latin typeface="+mn-lt"/>
                <a:ea typeface="Times New Roman"/>
                <a:cs typeface="Times New Roman"/>
                <a:sym typeface="Times New Roman"/>
              </a:rPr>
              <a:t>, and centralized order tracking across different applications.</a:t>
            </a:r>
          </a:p>
          <a:p>
            <a:pPr marL="0" marR="0" lvl="0" indent="0" algn="l" rtl="0">
              <a:lnSpc>
                <a:spcPct val="162162"/>
              </a:lnSpc>
              <a:spcBef>
                <a:spcPts val="0"/>
              </a:spcBef>
              <a:spcAft>
                <a:spcPts val="0"/>
              </a:spcAft>
              <a:buClr>
                <a:srgbClr val="2B3541"/>
              </a:buClr>
              <a:buSzPts val="1850"/>
              <a:buFont typeface="Times New Roman"/>
              <a:buNone/>
            </a:pPr>
            <a:endParaRPr lang="en-IN" sz="1800" b="0" i="0" u="none" strike="noStrike" cap="none" dirty="0">
              <a:solidFill>
                <a:srgbClr val="000000"/>
              </a:solidFill>
              <a:latin typeface="+mn-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1304</TotalTime>
  <Words>1492</Words>
  <Application>Microsoft Office PowerPoint</Application>
  <PresentationFormat>Widescreen</PresentationFormat>
  <Paragraphs>121</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Abhinaya Pattipati</cp:lastModifiedBy>
  <cp:revision>43</cp:revision>
  <dcterms:created xsi:type="dcterms:W3CDTF">2025-07-08T05:06:56Z</dcterms:created>
  <dcterms:modified xsi:type="dcterms:W3CDTF">2026-05-10T11:15:35Z</dcterms:modified>
</cp:coreProperties>
</file>